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8" roundtripDataSignature="AMtx7mhdnkdnNI0At9UXJMcqtoDtcZf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4pPr>
            <a:lvl5pPr indent="-3048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2" name="Google Shape;22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4pPr>
            <a:lvl5pPr indent="-3048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200"/>
              <a:buChar char="-"/>
              <a:defRPr sz="1200"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>
  <p:cSld name="Title Slid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93776" y="2976372"/>
            <a:ext cx="49788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  <a:defRPr b="0" i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type="ctrTitle"/>
          </p:nvPr>
        </p:nvSpPr>
        <p:spPr>
          <a:xfrm>
            <a:off x="493776" y="1117854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1" i="0" sz="45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University at Buffalo, The State University of New York logo" id="27" name="Google Shape;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30997"/>
            <a:ext cx="3600453" cy="26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showMasterSp="0">
  <p:cSld name="Title Slid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93776" y="2976372"/>
            <a:ext cx="49788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  <a:defRPr b="0"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type="ctrTitle"/>
          </p:nvPr>
        </p:nvSpPr>
        <p:spPr>
          <a:xfrm>
            <a:off x="493776" y="1117854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University at Buffalo, The State University of New York logo" id="31" name="Google Shape;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1" y="4530997"/>
            <a:ext cx="3600445" cy="26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1" showMasterSp="0">
  <p:cSld name="Divider Slid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ctrTitle"/>
          </p:nvPr>
        </p:nvSpPr>
        <p:spPr>
          <a:xfrm>
            <a:off x="493776" y="1117997"/>
            <a:ext cx="4978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subTitle"/>
          </p:nvPr>
        </p:nvSpPr>
        <p:spPr>
          <a:xfrm>
            <a:off x="493776" y="2977753"/>
            <a:ext cx="49788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University at Buffalo, The State University of New York logo" id="35" name="Google Shape;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240859"/>
            <a:ext cx="3600453" cy="267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 showMasterSp="0">
  <p:cSld name="Divider Slid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ctrTitle"/>
          </p:nvPr>
        </p:nvSpPr>
        <p:spPr>
          <a:xfrm>
            <a:off x="493776" y="1117997"/>
            <a:ext cx="4978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1" i="0" sz="45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493776" y="2977753"/>
            <a:ext cx="49788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University at Buffalo, The State University of New York logo" id="39" name="Google Shape;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240937"/>
            <a:ext cx="3600453" cy="26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25196" y="1124712"/>
            <a:ext cx="521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25196" y="1639062"/>
            <a:ext cx="5213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425196" y="1124712"/>
            <a:ext cx="788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425196" y="1639062"/>
            <a:ext cx="3375300" cy="29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2" type="body"/>
          </p:nvPr>
        </p:nvSpPr>
        <p:spPr>
          <a:xfrm>
            <a:off x="4057650" y="1639062"/>
            <a:ext cx="3374100" cy="29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425196" y="1124712"/>
            <a:ext cx="521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425196" y="1639062"/>
            <a:ext cx="5213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425196" y="1124712"/>
            <a:ext cx="788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>
            <a:off x="425196" y="1639062"/>
            <a:ext cx="3854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5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4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24"/>
          <p:cNvSpPr txBox="1"/>
          <p:nvPr>
            <p:ph idx="2" type="body"/>
          </p:nvPr>
        </p:nvSpPr>
        <p:spPr>
          <a:xfrm>
            <a:off x="425196" y="1945005"/>
            <a:ext cx="38553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3" type="body"/>
          </p:nvPr>
        </p:nvSpPr>
        <p:spPr>
          <a:xfrm>
            <a:off x="4629150" y="1639062"/>
            <a:ext cx="3854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5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4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5" name="Google Shape;55;p24"/>
          <p:cNvSpPr txBox="1"/>
          <p:nvPr>
            <p:ph idx="4" type="body"/>
          </p:nvPr>
        </p:nvSpPr>
        <p:spPr>
          <a:xfrm>
            <a:off x="4629150" y="1943100"/>
            <a:ext cx="38541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/>
          <p:nvPr>
            <p:ph idx="2" type="pic"/>
          </p:nvPr>
        </p:nvSpPr>
        <p:spPr>
          <a:xfrm>
            <a:off x="3823925" y="809625"/>
            <a:ext cx="5320200" cy="4333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8" name="Google Shape;58;p25"/>
          <p:cNvSpPr txBox="1"/>
          <p:nvPr>
            <p:ph type="title"/>
          </p:nvPr>
        </p:nvSpPr>
        <p:spPr>
          <a:xfrm>
            <a:off x="425196" y="1124712"/>
            <a:ext cx="3186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" type="body"/>
          </p:nvPr>
        </p:nvSpPr>
        <p:spPr>
          <a:xfrm>
            <a:off x="425196" y="1639062"/>
            <a:ext cx="3186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425196" y="1124712"/>
            <a:ext cx="3186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425196" y="1639062"/>
            <a:ext cx="3186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3835973" y="800100"/>
            <a:ext cx="5307900" cy="21993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6"/>
          <p:cNvSpPr/>
          <p:nvPr>
            <p:ph idx="3" type="pic"/>
          </p:nvPr>
        </p:nvSpPr>
        <p:spPr>
          <a:xfrm>
            <a:off x="3835973" y="2998722"/>
            <a:ext cx="2701800" cy="21432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6"/>
          <p:cNvSpPr/>
          <p:nvPr>
            <p:ph idx="4" type="pic"/>
          </p:nvPr>
        </p:nvSpPr>
        <p:spPr>
          <a:xfrm>
            <a:off x="6525817" y="2998722"/>
            <a:ext cx="2618100" cy="21432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title"/>
          </p:nvPr>
        </p:nvSpPr>
        <p:spPr>
          <a:xfrm>
            <a:off x="425196" y="1124712"/>
            <a:ext cx="788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7"/>
          <p:cNvSpPr/>
          <p:nvPr>
            <p:ph idx="2" type="pic"/>
          </p:nvPr>
        </p:nvSpPr>
        <p:spPr>
          <a:xfrm>
            <a:off x="0" y="800100"/>
            <a:ext cx="9144000" cy="43434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425196" y="1124712"/>
            <a:ext cx="3186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>
            <a:off x="425196" y="1639062"/>
            <a:ext cx="3186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2pPr>
            <a:lvl3pPr indent="-3302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3pPr>
            <a:lvl4pPr indent="-3302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4pPr>
            <a:lvl5pPr indent="-3302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28"/>
          <p:cNvSpPr/>
          <p:nvPr>
            <p:ph idx="2" type="chart"/>
          </p:nvPr>
        </p:nvSpPr>
        <p:spPr>
          <a:xfrm>
            <a:off x="3871451" y="1482214"/>
            <a:ext cx="4743900" cy="2975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title"/>
          </p:nvPr>
        </p:nvSpPr>
        <p:spPr>
          <a:xfrm>
            <a:off x="425196" y="1124712"/>
            <a:ext cx="788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25196" y="1124712"/>
            <a:ext cx="788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25196" y="1639062"/>
            <a:ext cx="7886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0200" lvl="0" marL="4572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niversity at Buffalo, The State University of New York logo" id="8" name="Google Shape;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6700" y="240937"/>
            <a:ext cx="3600453" cy="26686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3"/>
          <p:cNvSpPr txBox="1"/>
          <p:nvPr/>
        </p:nvSpPr>
        <p:spPr>
          <a:xfrm>
            <a:off x="5203632" y="473983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X0AvteZ0QxzLWwMHDgjdNG5X690dTpof/view" TargetMode="External"/><Relationship Id="rId4" Type="http://schemas.openxmlformats.org/officeDocument/2006/relationships/image" Target="../media/image13.jpg"/><Relationship Id="rId5" Type="http://schemas.openxmlformats.org/officeDocument/2006/relationships/hyperlink" Target="http://drive.google.com/file/d/1vSI9afSX7s8gCWi2G0aSQPYl2zDr4yI2/view" TargetMode="External"/><Relationship Id="rId6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tSW-8mtDn5hgzFUecYAzLJcn4BvuUtKD/view" TargetMode="External"/><Relationship Id="rId4" Type="http://schemas.openxmlformats.org/officeDocument/2006/relationships/image" Target="../media/image11.jpg"/><Relationship Id="rId5" Type="http://schemas.openxmlformats.org/officeDocument/2006/relationships/hyperlink" Target="http://drive.google.com/file/d/1DR_TzM1iwKiMBGbV7gug8IAXnmC6LxGs/view" TargetMode="External"/><Relationship Id="rId6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311700" y="712350"/>
            <a:ext cx="852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GB" sz="5000"/>
              <a:t>Blitz Classification</a:t>
            </a:r>
            <a:endParaRPr sz="5000"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2016350" y="1413175"/>
            <a:ext cx="545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CSE 611 Summer Project </a:t>
            </a:r>
            <a:endParaRPr/>
          </a:p>
        </p:txBody>
      </p:sp>
      <p:sp>
        <p:nvSpPr>
          <p:cNvPr id="82" name="Google Shape;82;p1"/>
          <p:cNvSpPr txBox="1"/>
          <p:nvPr>
            <p:ph idx="1" type="subTitle"/>
          </p:nvPr>
        </p:nvSpPr>
        <p:spPr>
          <a:xfrm>
            <a:off x="384150" y="2805225"/>
            <a:ext cx="85206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Alain Schaerer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Li-Hsuan Hsieh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Khushmeet Singh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Jiun Kim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GB"/>
              <a:t>Piyoosh Kumar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>
            <p:ph type="title"/>
          </p:nvPr>
        </p:nvSpPr>
        <p:spPr>
          <a:xfrm>
            <a:off x="3600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88" name="Google Shape;88;p2"/>
          <p:cNvSpPr txBox="1"/>
          <p:nvPr>
            <p:ph idx="1" type="body"/>
          </p:nvPr>
        </p:nvSpPr>
        <p:spPr>
          <a:xfrm>
            <a:off x="311700" y="12853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Blitz - defense tactic used to disrupt pass attempts by offense.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Bring more men than offense is prepared to block.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Blitzer can be anyone, but usually is safety or linebacker.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Blitz is often a surprise attack that forces the offense into incomplete passes or tackles for losses.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Drawback of blitz - takes away the defender from the coverage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3117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94" name="Google Shape;94;p3"/>
          <p:cNvSpPr txBox="1"/>
          <p:nvPr>
            <p:ph idx="1" type="body"/>
          </p:nvPr>
        </p:nvSpPr>
        <p:spPr>
          <a:xfrm>
            <a:off x="311700" y="124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Identify blitz occurrence using 2021 NFL play data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Identify the blitz type (gap, position of blitzing players, cross) for a given play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Draw an animation for the given play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Find blitz indicators</a:t>
            </a:r>
            <a:endParaRPr sz="1600"/>
          </a:p>
          <a:p>
            <a:pPr indent="-3429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GB" sz="1600"/>
              <a:t>Example - Safety-Linebacker cross blitz from A and B gap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311700" y="7468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Blitz definition</a:t>
            </a:r>
            <a:endParaRPr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311700" y="13939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-GB" sz="1600"/>
              <a:t>We use columns </a:t>
            </a:r>
            <a:r>
              <a:rPr b="1" lang="en-GB" sz="1600"/>
              <a:t>personnelD </a:t>
            </a:r>
            <a:r>
              <a:rPr lang="en-GB" sz="1600"/>
              <a:t>and </a:t>
            </a:r>
            <a:r>
              <a:rPr b="1" lang="en-GB" sz="1600"/>
              <a:t>numberOfPassRushers</a:t>
            </a:r>
            <a:r>
              <a:rPr lang="en-GB" sz="1600"/>
              <a:t> from </a:t>
            </a:r>
            <a:r>
              <a:rPr b="1" lang="en-GB" sz="1600"/>
              <a:t>play.csv </a:t>
            </a:r>
            <a:r>
              <a:rPr lang="en-GB" sz="1600"/>
              <a:t>to help us define which play has blitz.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personnelD: This column shows that how many players in each position for the defensive team. Ex: 4 DL, 2 LB, 5 DB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numberOfPassRushers: Number of pass rushers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With personnelD, we can know how many defensive linemen in the play and if the number of pass rushers is greater than the number of d-linemen. Then we consider the play has blitz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We filtered some plays that </a:t>
            </a:r>
            <a:r>
              <a:rPr b="1" lang="en-GB" sz="1600"/>
              <a:t>personnelD</a:t>
            </a:r>
            <a:r>
              <a:rPr lang="en-GB" sz="1600"/>
              <a:t> contained too many or less d-linemen.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3117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Gap Detection </a:t>
            </a:r>
            <a:r>
              <a:rPr lang="en-GB" sz="2000"/>
              <a:t>(Which gaps do the blitzes go to)</a:t>
            </a:r>
            <a:endParaRPr sz="2000"/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263400" y="1237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We want to know which gap the blitzers go to classify blitzes</a:t>
            </a:r>
            <a:endParaRPr/>
          </a:p>
          <a:p>
            <a:pPr indent="-3302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Gap definition: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</a:pPr>
            <a:r>
              <a:rPr lang="en-GB"/>
              <a:t>Use quarterback’s location to determine the middle point of the offensive team’s format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</a:pPr>
            <a:r>
              <a:rPr lang="en-GB"/>
              <a:t>The gap would extend from the middle point and the distance of each gap is two yards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</a:pPr>
            <a:r>
              <a:rPr lang="en-GB"/>
              <a:t>Ex: F - - E - - D - - C - - B - - A - - M - - A - - B - - C - - D - - E - - F</a:t>
            </a:r>
            <a:endParaRPr/>
          </a:p>
          <a:p>
            <a:pPr indent="-3175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Once we know where the gaps are, we can count how many players go pass each gap by using the tracking data</a:t>
            </a:r>
            <a:endParaRPr/>
          </a:p>
          <a:p>
            <a:pPr indent="-3175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Check the horizontal coordinate (y) to determine which gap the player at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</a:pPr>
            <a:r>
              <a:rPr lang="en-GB"/>
              <a:t>Check the vertical coordinate (x) if the player is in the range between LOS and 1.5 yards behind the LOS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3117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Cross Blitz Detection </a:t>
            </a:r>
            <a:r>
              <a:rPr lang="en-GB" sz="1777"/>
              <a:t>(Do the defenders cross when blitzing?)</a:t>
            </a:r>
            <a:endParaRPr sz="2777"/>
          </a:p>
        </p:txBody>
      </p:sp>
      <p:sp>
        <p:nvSpPr>
          <p:cNvPr id="112" name="Google Shape;112;p6"/>
          <p:cNvSpPr txBox="1"/>
          <p:nvPr>
            <p:ph idx="1" type="body"/>
          </p:nvPr>
        </p:nvSpPr>
        <p:spPr>
          <a:xfrm>
            <a:off x="311700" y="12973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Get the combinations of two players with </a:t>
            </a:r>
            <a:r>
              <a:rPr b="1" lang="en-GB" sz="1600"/>
              <a:t>nflId</a:t>
            </a:r>
            <a:r>
              <a:rPr lang="en-GB" sz="1600"/>
              <a:t> in blitzers. Ex: [‘123’, ‘234’, ‘345’] the combination will be [(‘123’, ‘234’), (123, ‘345’), (‘234’, ‘345’)]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GB" sz="1600"/>
              <a:t>For each combination, use the location when event </a:t>
            </a:r>
            <a:r>
              <a:rPr b="1" lang="en-GB" sz="1600"/>
              <a:t>ball_snap </a:t>
            </a:r>
            <a:r>
              <a:rPr lang="en-GB" sz="1600"/>
              <a:t>occurred and the location when the player cross the gap to determine if the the two players crossed (a initial </a:t>
            </a:r>
            <a:r>
              <a:rPr b="1" lang="en-GB" sz="1600"/>
              <a:t>y</a:t>
            </a:r>
            <a:r>
              <a:rPr lang="en-GB" sz="1600"/>
              <a:t> &gt; b initial </a:t>
            </a:r>
            <a:r>
              <a:rPr b="1" lang="en-GB" sz="1600"/>
              <a:t>y</a:t>
            </a:r>
            <a:r>
              <a:rPr lang="en-GB" sz="1600"/>
              <a:t> and a </a:t>
            </a:r>
            <a:r>
              <a:rPr b="1" lang="en-GB" sz="1600"/>
              <a:t>y</a:t>
            </a:r>
            <a:r>
              <a:rPr lang="en-GB" sz="1600"/>
              <a:t> in gap &lt; b </a:t>
            </a:r>
            <a:r>
              <a:rPr b="1" lang="en-GB" sz="1600"/>
              <a:t>y</a:t>
            </a:r>
            <a:r>
              <a:rPr lang="en-GB" sz="1600"/>
              <a:t> in gap) each other during the play.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Results </a:t>
            </a:r>
            <a:endParaRPr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311700" y="12611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-GB" sz="1600"/>
              <a:t>We tested our method with </a:t>
            </a:r>
            <a:r>
              <a:rPr b="1" lang="en-GB" sz="1600"/>
              <a:t>PHI </a:t>
            </a:r>
            <a:r>
              <a:rPr lang="en-GB" sz="1600"/>
              <a:t>data and check some plays with our visualization to validate </a:t>
            </a:r>
            <a:endParaRPr sz="1600"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688" y="1922811"/>
            <a:ext cx="7792626" cy="209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311700" y="44502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Example Play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27" name="Google Shape;127;p8" title="3bcc0f8a-9d25-4b77-a5f6-f2d81e833ab4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387" y="1390100"/>
            <a:ext cx="3984525" cy="313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 title="01cc676e-4954-4981-9bc7-cd147b5f5592 (2)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2400" y="1095750"/>
            <a:ext cx="3709750" cy="33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 title="f91bc1f2-34e4-44da-b276-b1595d00fec2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0" y="1282299"/>
            <a:ext cx="3999902" cy="3251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 title="download (2)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7800" y="1180875"/>
            <a:ext cx="3945951" cy="3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311700" y="7090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Challenges Faced 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311700" y="1237000"/>
            <a:ext cx="8520600" cy="3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</a:pPr>
            <a:r>
              <a:rPr lang="en-GB" sz="1500"/>
              <a:t>No offensive linemen data</a:t>
            </a:r>
            <a:endParaRPr sz="1500"/>
          </a:p>
          <a:p>
            <a:pPr indent="-33655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-"/>
            </a:pPr>
            <a:r>
              <a:rPr lang="en-GB" sz="1500"/>
              <a:t>Had to estimate gap area</a:t>
            </a:r>
            <a:endParaRPr sz="1500"/>
          </a:p>
          <a:p>
            <a:pPr indent="-33655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</a:pPr>
            <a:r>
              <a:rPr lang="en-GB" sz="1500"/>
              <a:t>No defensive linemen (tracking) data</a:t>
            </a:r>
            <a:endParaRPr sz="1500"/>
          </a:p>
          <a:p>
            <a:pPr indent="-33655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-"/>
            </a:pPr>
            <a:r>
              <a:rPr lang="en-GB" sz="1500"/>
              <a:t>Some players were marked as "DL" but they were actually just linebackers walked up to the LOS.</a:t>
            </a:r>
            <a:endParaRPr sz="1500"/>
          </a:p>
          <a:p>
            <a:pPr indent="-33655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-"/>
            </a:pPr>
            <a:r>
              <a:rPr lang="en-GB" sz="1500"/>
              <a:t>Some actual defensive linemen were marked as "LB."</a:t>
            </a:r>
            <a:endParaRPr sz="1500"/>
          </a:p>
          <a:p>
            <a:pPr indent="-33655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700"/>
              <a:buChar char="-"/>
            </a:pPr>
            <a:r>
              <a:rPr lang="en-GB" sz="1500"/>
              <a:t>Those two inconsistencies lead to fronts with 6 or more "defensive linemen" or fronts with 3 or less defensive linemen, which do not exist in football. A 6 up front is usually 4 defensive linemen with 2 walked up linebackers and I have never seen a front with less than 3 actual defensive linemen.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311700" y="746875"/>
            <a:ext cx="8520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/>
              <a:t>Future Improvements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311700" y="1333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Find a way to more accurately estimate gap areas in general.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Find a way to estimate gaps, even for plays where gaps get heavily stretched.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Find a way around personnel problematic (6 DL fronts etc.)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All of these problems would be solved with offensive and defensive lineman tracking data and more football knowledge from the nfl data science employees.</a:t>
            </a:r>
            <a:endParaRPr sz="1600"/>
          </a:p>
          <a:p>
            <a:pPr indent="-3429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GB" sz="1600"/>
              <a:t>Implement indicator detection.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2798950" y="2128350"/>
            <a:ext cx="3298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